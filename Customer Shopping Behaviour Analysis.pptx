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Libre Baskerville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6.xml"/><Relationship Id="rId22" Type="http://schemas.openxmlformats.org/officeDocument/2006/relationships/font" Target="fonts/DMSans-italic.fntdata"/><Relationship Id="rId10" Type="http://schemas.openxmlformats.org/officeDocument/2006/relationships/slide" Target="slides/slide5.xml"/><Relationship Id="rId21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ibreBaskerville-bold.fntdata"/><Relationship Id="rId16" Type="http://schemas.openxmlformats.org/officeDocument/2006/relationships/font" Target="fonts/LibreBaskervill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ibreBaskerville-boldItalic.fntdata"/><Relationship Id="rId6" Type="http://schemas.openxmlformats.org/officeDocument/2006/relationships/slide" Target="slides/slide1.xml"/><Relationship Id="rId18" Type="http://schemas.openxmlformats.org/officeDocument/2006/relationships/font" Target="fonts/LibreBaskervill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9" name="Google Shape;99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0" name="Google Shape;100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02" name="Google Shape;102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0" name="Google Shape;120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1" name="Google Shape;121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23" name="Google Shape;123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9" name="Google Shape;149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0" name="Google Shape;150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52" name="Google Shape;152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3" name="Google Shape;153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2" name="Google Shape;172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174" name="Google Shape;174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5" name="Google Shape;175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4" name="Google Shape;194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5" name="Google Shape;195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197" name="Google Shape;197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8" name="Google Shape;198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4" name="Google Shape;214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5" name="Google Shape;215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217" name="Google Shape;217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8" name="Google Shape;218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4" name="Google Shape;234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5" name="Google Shape;235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237" name="Google Shape;237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8" name="Google Shape;238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6" name="Google Shape;256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7" name="Google Shape;257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259" name="Google Shape;259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0" name="Google Shape;260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2" name="Google Shape;282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3" name="Google Shape;283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285" name="Google Shape;285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6" name="Google Shape;286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19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92" name="Google Shape;92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descr="preencoded.png" id="94" name="Google Shape;94;p13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3716000" w="9144000">
                <a:moveTo>
                  <a:pt x="0" y="0"/>
                </a:moveTo>
                <a:lnTo>
                  <a:pt x="9144000" y="0"/>
                </a:lnTo>
                <a:lnTo>
                  <a:pt x="914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3"/>
          <p:cNvSpPr txBox="1"/>
          <p:nvPr/>
        </p:nvSpPr>
        <p:spPr>
          <a:xfrm>
            <a:off x="7850238" y="3562645"/>
            <a:ext cx="94455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 Shopping Behaviour Analysis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850238" y="5693121"/>
            <a:ext cx="9445523" cy="100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Uncovering insights from 3,900 purchases to guide strategic business decisions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05" name="Google Shape;105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descr="preencoded.png" id="107" name="Google Shape;107;p14"/>
          <p:cNvSpPr/>
          <p:nvPr/>
        </p:nvSpPr>
        <p:spPr>
          <a:xfrm>
            <a:off x="0" y="0"/>
            <a:ext cx="18288000" cy="3544062"/>
          </a:xfrm>
          <a:custGeom>
            <a:rect b="b" l="l" r="r" t="t"/>
            <a:pathLst>
              <a:path extrusionOk="0" h="4725416" w="24384000">
                <a:moveTo>
                  <a:pt x="0" y="0"/>
                </a:moveTo>
                <a:lnTo>
                  <a:pt x="24384000" y="0"/>
                </a:lnTo>
                <a:lnTo>
                  <a:pt x="24384000" y="4725416"/>
                </a:lnTo>
                <a:lnTo>
                  <a:pt x="0" y="4725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0" r="-10" t="0"/>
            </a:stretch>
          </a:blipFill>
          <a:ln>
            <a:noFill/>
          </a:ln>
        </p:spPr>
      </p:sp>
      <p:sp>
        <p:nvSpPr>
          <p:cNvPr id="108" name="Google Shape;108;p14"/>
          <p:cNvSpPr txBox="1"/>
          <p:nvPr/>
        </p:nvSpPr>
        <p:spPr>
          <a:xfrm>
            <a:off x="992238" y="4982318"/>
            <a:ext cx="7088238" cy="91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 Overview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92238" y="6597101"/>
            <a:ext cx="5198269" cy="802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12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3,900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819275" y="7734452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Total Purchases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92238" y="8271272"/>
            <a:ext cx="5198269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Comprehensive transaction data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544866" y="6597101"/>
            <a:ext cx="5198269" cy="802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12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371902" y="7734452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Columns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544866" y="8271272"/>
            <a:ext cx="5198269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 demographics &amp; behavior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2097493" y="6597101"/>
            <a:ext cx="5198269" cy="802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12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37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2924530" y="7734452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Values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2097493" y="8271272"/>
            <a:ext cx="5198269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Only in Review Rating column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26" name="Google Shape;126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id="128" name="Google Shape;128;p15"/>
          <p:cNvSpPr txBox="1"/>
          <p:nvPr/>
        </p:nvSpPr>
        <p:spPr>
          <a:xfrm>
            <a:off x="992238" y="2078984"/>
            <a:ext cx="9073153" cy="91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Preparation Process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92238" y="3474834"/>
            <a:ext cx="28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992238" y="4004367"/>
            <a:ext cx="5245417" cy="38100"/>
          </a:xfrm>
          <a:custGeom>
            <a:rect b="b" l="l" r="r" t="t"/>
            <a:pathLst>
              <a:path extrusionOk="0" h="50800" w="6993890">
                <a:moveTo>
                  <a:pt x="0" y="0"/>
                </a:moveTo>
                <a:lnTo>
                  <a:pt x="6993890" y="0"/>
                </a:lnTo>
                <a:lnTo>
                  <a:pt x="699389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B88E23"/>
          </a:solidFill>
          <a:ln>
            <a:noFill/>
          </a:ln>
        </p:spPr>
      </p:sp>
      <p:sp>
        <p:nvSpPr>
          <p:cNvPr id="131" name="Google Shape;131;p15"/>
          <p:cNvSpPr txBox="1"/>
          <p:nvPr/>
        </p:nvSpPr>
        <p:spPr>
          <a:xfrm>
            <a:off x="992363" y="4179590"/>
            <a:ext cx="354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Loading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92238" y="4740031"/>
            <a:ext cx="5245446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Imported dataset using pandas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521206" y="3474834"/>
            <a:ext cx="28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6521206" y="4004367"/>
            <a:ext cx="5245417" cy="38100"/>
          </a:xfrm>
          <a:custGeom>
            <a:rect b="b" l="l" r="r" t="t"/>
            <a:pathLst>
              <a:path extrusionOk="0" h="50800" w="6993890">
                <a:moveTo>
                  <a:pt x="0" y="0"/>
                </a:moveTo>
                <a:lnTo>
                  <a:pt x="6993890" y="0"/>
                </a:lnTo>
                <a:lnTo>
                  <a:pt x="699389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B88E23"/>
          </a:solidFill>
          <a:ln>
            <a:noFill/>
          </a:ln>
        </p:spPr>
      </p:sp>
      <p:sp>
        <p:nvSpPr>
          <p:cNvPr id="135" name="Google Shape;135;p15"/>
          <p:cNvSpPr txBox="1"/>
          <p:nvPr/>
        </p:nvSpPr>
        <p:spPr>
          <a:xfrm>
            <a:off x="6521206" y="4203202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Initial Exploration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521206" y="4740031"/>
            <a:ext cx="5245446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Structure check and summary statistics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2050163" y="3474834"/>
            <a:ext cx="28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12050163" y="4004367"/>
            <a:ext cx="5245417" cy="38100"/>
          </a:xfrm>
          <a:custGeom>
            <a:rect b="b" l="l" r="r" t="t"/>
            <a:pathLst>
              <a:path extrusionOk="0" h="50800" w="6993890">
                <a:moveTo>
                  <a:pt x="0" y="0"/>
                </a:moveTo>
                <a:lnTo>
                  <a:pt x="6993890" y="0"/>
                </a:lnTo>
                <a:lnTo>
                  <a:pt x="699389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B88E23"/>
          </a:solidFill>
          <a:ln>
            <a:noFill/>
          </a:ln>
        </p:spPr>
      </p:sp>
      <p:sp>
        <p:nvSpPr>
          <p:cNvPr id="139" name="Google Shape;139;p15"/>
          <p:cNvSpPr txBox="1"/>
          <p:nvPr/>
        </p:nvSpPr>
        <p:spPr>
          <a:xfrm>
            <a:off x="12050163" y="4203202"/>
            <a:ext cx="4137269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Data Handling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2050163" y="4740031"/>
            <a:ext cx="5245446" cy="100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Imputed Review Rating with median values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92238" y="6881222"/>
            <a:ext cx="369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992243" y="7296853"/>
            <a:ext cx="354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8151484" y="6172830"/>
            <a:ext cx="28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4792009" y="6676278"/>
            <a:ext cx="8009954" cy="38100"/>
          </a:xfrm>
          <a:custGeom>
            <a:rect b="b" l="l" r="r" t="t"/>
            <a:pathLst>
              <a:path extrusionOk="0" h="50800" w="10679938">
                <a:moveTo>
                  <a:pt x="0" y="0"/>
                </a:moveTo>
                <a:lnTo>
                  <a:pt x="10679938" y="0"/>
                </a:lnTo>
                <a:lnTo>
                  <a:pt x="10679938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B88E23"/>
          </a:solidFill>
          <a:ln>
            <a:noFill/>
          </a:ln>
        </p:spPr>
      </p:sp>
      <p:sp>
        <p:nvSpPr>
          <p:cNvPr id="145" name="Google Shape;145;p15"/>
          <p:cNvSpPr txBox="1"/>
          <p:nvPr/>
        </p:nvSpPr>
        <p:spPr>
          <a:xfrm>
            <a:off x="6410184" y="6881222"/>
            <a:ext cx="3766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Database Integration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410184" y="7471366"/>
            <a:ext cx="8010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Connected to 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SQL </a:t>
            </a: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for analysis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55" name="Google Shape;155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id="157" name="Google Shape;157;p16"/>
          <p:cNvSpPr txBox="1"/>
          <p:nvPr/>
        </p:nvSpPr>
        <p:spPr>
          <a:xfrm>
            <a:off x="992238" y="1478909"/>
            <a:ext cx="10303373" cy="91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by Gender Analysis</a:t>
            </a:r>
            <a:endParaRPr/>
          </a:p>
        </p:txBody>
      </p:sp>
      <p:sp>
        <p:nvSpPr>
          <p:cNvPr descr="preencoded.png" id="158" name="Google Shape;158;p16"/>
          <p:cNvSpPr/>
          <p:nvPr/>
        </p:nvSpPr>
        <p:spPr>
          <a:xfrm>
            <a:off x="992238" y="3137592"/>
            <a:ext cx="9505379" cy="5001387"/>
          </a:xfrm>
          <a:custGeom>
            <a:rect b="b" l="l" r="r" t="t"/>
            <a:pathLst>
              <a:path extrusionOk="0" h="6668516" w="12673838">
                <a:moveTo>
                  <a:pt x="0" y="0"/>
                </a:moveTo>
                <a:lnTo>
                  <a:pt x="12673838" y="0"/>
                </a:lnTo>
                <a:lnTo>
                  <a:pt x="12673838" y="6668516"/>
                </a:lnTo>
                <a:lnTo>
                  <a:pt x="0" y="6668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0" r="-10" t="0"/>
            </a:stretch>
          </a:blipFill>
          <a:ln>
            <a:noFill/>
          </a:ln>
        </p:spPr>
      </p:sp>
      <p:sp>
        <p:nvSpPr>
          <p:cNvPr id="159" name="Google Shape;159;p16"/>
          <p:cNvSpPr/>
          <p:nvPr/>
        </p:nvSpPr>
        <p:spPr>
          <a:xfrm>
            <a:off x="4673203" y="8177060"/>
            <a:ext cx="283559" cy="283559"/>
          </a:xfrm>
          <a:custGeom>
            <a:rect b="b" l="l" r="r" t="t"/>
            <a:pathLst>
              <a:path extrusionOk="0" h="378079" w="378079">
                <a:moveTo>
                  <a:pt x="0" y="30480"/>
                </a:moveTo>
                <a:cubicBezTo>
                  <a:pt x="0" y="13589"/>
                  <a:pt x="13589" y="0"/>
                  <a:pt x="30480" y="0"/>
                </a:cubicBezTo>
                <a:lnTo>
                  <a:pt x="347599" y="0"/>
                </a:lnTo>
                <a:cubicBezTo>
                  <a:pt x="364490" y="0"/>
                  <a:pt x="378079" y="13589"/>
                  <a:pt x="378079" y="30480"/>
                </a:cubicBezTo>
                <a:lnTo>
                  <a:pt x="378079" y="347599"/>
                </a:lnTo>
                <a:cubicBezTo>
                  <a:pt x="378079" y="364490"/>
                  <a:pt x="364490" y="378079"/>
                  <a:pt x="347599" y="378079"/>
                </a:cubicBezTo>
                <a:lnTo>
                  <a:pt x="30480" y="378079"/>
                </a:lnTo>
                <a:cubicBezTo>
                  <a:pt x="13589" y="378079"/>
                  <a:pt x="0" y="364490"/>
                  <a:pt x="0" y="347599"/>
                </a:cubicBezTo>
                <a:close/>
              </a:path>
            </a:pathLst>
          </a:custGeom>
          <a:solidFill>
            <a:srgbClr val="4032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032924" y="8215160"/>
            <a:ext cx="616744" cy="245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Male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5840168" y="8177060"/>
            <a:ext cx="283559" cy="283559"/>
          </a:xfrm>
          <a:custGeom>
            <a:rect b="b" l="l" r="r" t="t"/>
            <a:pathLst>
              <a:path extrusionOk="0" h="378079" w="378079">
                <a:moveTo>
                  <a:pt x="0" y="30480"/>
                </a:moveTo>
                <a:cubicBezTo>
                  <a:pt x="0" y="13589"/>
                  <a:pt x="13589" y="0"/>
                  <a:pt x="30480" y="0"/>
                </a:cubicBezTo>
                <a:lnTo>
                  <a:pt x="347599" y="0"/>
                </a:lnTo>
                <a:cubicBezTo>
                  <a:pt x="364490" y="0"/>
                  <a:pt x="378079" y="13589"/>
                  <a:pt x="378079" y="30480"/>
                </a:cubicBezTo>
                <a:lnTo>
                  <a:pt x="378079" y="347599"/>
                </a:lnTo>
                <a:cubicBezTo>
                  <a:pt x="378079" y="364490"/>
                  <a:pt x="364490" y="378079"/>
                  <a:pt x="347599" y="378079"/>
                </a:cubicBezTo>
                <a:lnTo>
                  <a:pt x="30480" y="378079"/>
                </a:lnTo>
                <a:cubicBezTo>
                  <a:pt x="13589" y="378079"/>
                  <a:pt x="0" y="364490"/>
                  <a:pt x="0" y="347599"/>
                </a:cubicBezTo>
                <a:close/>
              </a:path>
            </a:pathLst>
          </a:custGeom>
          <a:solidFill>
            <a:srgbClr val="CC9D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199880" y="8215160"/>
            <a:ext cx="937470" cy="245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Female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1198866" y="3083128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Insight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11198866" y="3733352"/>
            <a:ext cx="61062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Male customers generate more than double the revenue of female customers (68% vs 32%)</a:t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11198866" y="5054803"/>
            <a:ext cx="6106287" cy="1658302"/>
          </a:xfrm>
          <a:custGeom>
            <a:rect b="b" l="l" r="r" t="t"/>
            <a:pathLst>
              <a:path extrusionOk="0" h="2211070" w="8141716">
                <a:moveTo>
                  <a:pt x="0" y="158750"/>
                </a:moveTo>
                <a:cubicBezTo>
                  <a:pt x="0" y="71120"/>
                  <a:pt x="71120" y="0"/>
                  <a:pt x="158750" y="0"/>
                </a:cubicBezTo>
                <a:lnTo>
                  <a:pt x="7982966" y="0"/>
                </a:lnTo>
                <a:cubicBezTo>
                  <a:pt x="8070723" y="0"/>
                  <a:pt x="8141716" y="71120"/>
                  <a:pt x="8141716" y="158750"/>
                </a:cubicBezTo>
                <a:lnTo>
                  <a:pt x="8141716" y="2052320"/>
                </a:lnTo>
                <a:cubicBezTo>
                  <a:pt x="8141716" y="2140077"/>
                  <a:pt x="8070597" y="2211070"/>
                  <a:pt x="7982966" y="2211070"/>
                </a:cubicBezTo>
                <a:lnTo>
                  <a:pt x="158750" y="2211070"/>
                </a:lnTo>
                <a:cubicBezTo>
                  <a:pt x="70993" y="2211070"/>
                  <a:pt x="0" y="2139950"/>
                  <a:pt x="0" y="2052320"/>
                </a:cubicBezTo>
                <a:close/>
              </a:path>
            </a:pathLst>
          </a:custGeom>
          <a:solidFill>
            <a:srgbClr val="F3E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66" name="Google Shape;166;p16"/>
          <p:cNvSpPr/>
          <p:nvPr/>
        </p:nvSpPr>
        <p:spPr>
          <a:xfrm>
            <a:off x="11482388" y="5484914"/>
            <a:ext cx="354330" cy="283559"/>
          </a:xfrm>
          <a:custGeom>
            <a:rect b="b" l="l" r="r" t="t"/>
            <a:pathLst>
              <a:path extrusionOk="0" h="378079" w="472440">
                <a:moveTo>
                  <a:pt x="0" y="0"/>
                </a:moveTo>
                <a:lnTo>
                  <a:pt x="472440" y="0"/>
                </a:lnTo>
                <a:lnTo>
                  <a:pt x="472440" y="378079"/>
                </a:lnTo>
                <a:lnTo>
                  <a:pt x="0" y="378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55" l="0" r="-8" t="-671"/>
            </a:stretch>
          </a:blipFill>
          <a:ln>
            <a:noFill/>
          </a:ln>
        </p:spPr>
      </p:sp>
      <p:sp>
        <p:nvSpPr>
          <p:cNvPr id="167" name="Google Shape;167;p16"/>
          <p:cNvSpPr txBox="1"/>
          <p:nvPr/>
        </p:nvSpPr>
        <p:spPr>
          <a:xfrm>
            <a:off x="12120267" y="5313912"/>
            <a:ext cx="4901355" cy="100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Gender-based marketing strategies could optimize revenue streams</a:t>
            </a:r>
            <a:endParaRPr/>
          </a:p>
        </p:txBody>
      </p:sp>
      <p:pic>
        <p:nvPicPr>
          <p:cNvPr id="168" name="Google Shape;168;p16" title="Points sco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82100" y="3347850"/>
            <a:ext cx="7346349" cy="463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77" name="Google Shape;177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descr="preencoded.png" id="179" name="Google Shape;179;p17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3716000" w="9144000">
                <a:moveTo>
                  <a:pt x="0" y="0"/>
                </a:moveTo>
                <a:lnTo>
                  <a:pt x="9144000" y="0"/>
                </a:lnTo>
                <a:lnTo>
                  <a:pt x="914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7"/>
          <p:cNvSpPr txBox="1"/>
          <p:nvPr/>
        </p:nvSpPr>
        <p:spPr>
          <a:xfrm>
            <a:off x="7850238" y="1835496"/>
            <a:ext cx="9445523" cy="180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High-Value Discount Users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7850238" y="3965972"/>
            <a:ext cx="9445523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Customers using discounts while spending above average</a:t>
            </a:r>
            <a:endParaRPr/>
          </a:p>
        </p:txBody>
      </p:sp>
      <p:grpSp>
        <p:nvGrpSpPr>
          <p:cNvPr id="182" name="Google Shape;182;p17"/>
          <p:cNvGrpSpPr/>
          <p:nvPr/>
        </p:nvGrpSpPr>
        <p:grpSpPr>
          <a:xfrm>
            <a:off x="7845476" y="4829023"/>
            <a:ext cx="9455086" cy="1662208"/>
            <a:chOff x="0" y="0"/>
            <a:chExt cx="12606782" cy="2216277"/>
          </a:xfrm>
        </p:grpSpPr>
        <p:sp>
          <p:nvSpPr>
            <p:cNvPr id="183" name="Google Shape;183;p17"/>
            <p:cNvSpPr/>
            <p:nvPr/>
          </p:nvSpPr>
          <p:spPr>
            <a:xfrm>
              <a:off x="6350" y="6350"/>
              <a:ext cx="12594082" cy="2203577"/>
            </a:xfrm>
            <a:custGeom>
              <a:rect b="b" l="l" r="r" t="t"/>
              <a:pathLst>
                <a:path extrusionOk="0" h="2203577" w="12594082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044827"/>
                  </a:lnTo>
                  <a:cubicBezTo>
                    <a:pt x="12594082" y="2132457"/>
                    <a:pt x="12522708" y="2203577"/>
                    <a:pt x="12434570" y="2203577"/>
                  </a:cubicBezTo>
                  <a:lnTo>
                    <a:pt x="159512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F7E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0" y="0"/>
              <a:ext cx="12606782" cy="2216277"/>
            </a:xfrm>
            <a:custGeom>
              <a:rect b="b" l="l" r="r" t="t"/>
              <a:pathLst>
                <a:path extrusionOk="0" h="2216277" w="12606782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6350"/>
                  </a:lnTo>
                  <a:lnTo>
                    <a:pt x="12440920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051177"/>
                  </a:lnTo>
                  <a:lnTo>
                    <a:pt x="12600432" y="2051177"/>
                  </a:lnTo>
                  <a:lnTo>
                    <a:pt x="12606782" y="2051177"/>
                  </a:lnTo>
                  <a:cubicBezTo>
                    <a:pt x="12606782" y="2142363"/>
                    <a:pt x="12532487" y="2216277"/>
                    <a:pt x="12440920" y="2216277"/>
                  </a:cubicBezTo>
                  <a:lnTo>
                    <a:pt x="12440920" y="2209927"/>
                  </a:lnTo>
                  <a:lnTo>
                    <a:pt x="12440920" y="2216277"/>
                  </a:lnTo>
                  <a:lnTo>
                    <a:pt x="165862" y="2216277"/>
                  </a:lnTo>
                  <a:lnTo>
                    <a:pt x="165862" y="2209927"/>
                  </a:lnTo>
                  <a:lnTo>
                    <a:pt x="165862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862" y="2203577"/>
                  </a:cubicBezTo>
                  <a:lnTo>
                    <a:pt x="12440920" y="2203577"/>
                  </a:lnTo>
                  <a:cubicBezTo>
                    <a:pt x="12525501" y="2203577"/>
                    <a:pt x="12594082" y="2135251"/>
                    <a:pt x="12594082" y="2051177"/>
                  </a:cubicBezTo>
                  <a:lnTo>
                    <a:pt x="12594082" y="165100"/>
                  </a:lnTo>
                  <a:cubicBezTo>
                    <a:pt x="12594082" y="80899"/>
                    <a:pt x="12525501" y="12700"/>
                    <a:pt x="1244092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17"/>
          <p:cNvSpPr txBox="1"/>
          <p:nvPr/>
        </p:nvSpPr>
        <p:spPr>
          <a:xfrm>
            <a:off x="8143284" y="5107781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Smart Shoppers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8143284" y="5644601"/>
            <a:ext cx="8859441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 spenders who maximize value with discounts</a:t>
            </a:r>
            <a:endParaRPr/>
          </a:p>
        </p:txBody>
      </p:sp>
      <p:grpSp>
        <p:nvGrpSpPr>
          <p:cNvPr id="187" name="Google Shape;187;p17"/>
          <p:cNvGrpSpPr/>
          <p:nvPr/>
        </p:nvGrpSpPr>
        <p:grpSpPr>
          <a:xfrm>
            <a:off x="7845476" y="6765284"/>
            <a:ext cx="9455086" cy="1662208"/>
            <a:chOff x="0" y="0"/>
            <a:chExt cx="12606782" cy="2216277"/>
          </a:xfrm>
        </p:grpSpPr>
        <p:sp>
          <p:nvSpPr>
            <p:cNvPr id="188" name="Google Shape;188;p17"/>
            <p:cNvSpPr/>
            <p:nvPr/>
          </p:nvSpPr>
          <p:spPr>
            <a:xfrm>
              <a:off x="6350" y="6350"/>
              <a:ext cx="12594082" cy="2203577"/>
            </a:xfrm>
            <a:custGeom>
              <a:rect b="b" l="l" r="r" t="t"/>
              <a:pathLst>
                <a:path extrusionOk="0" h="2203577" w="12594082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044827"/>
                  </a:lnTo>
                  <a:cubicBezTo>
                    <a:pt x="12594082" y="2132457"/>
                    <a:pt x="12522708" y="2203577"/>
                    <a:pt x="12434570" y="2203577"/>
                  </a:cubicBezTo>
                  <a:lnTo>
                    <a:pt x="159512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F7E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0" y="0"/>
              <a:ext cx="12606782" cy="2216277"/>
            </a:xfrm>
            <a:custGeom>
              <a:rect b="b" l="l" r="r" t="t"/>
              <a:pathLst>
                <a:path extrusionOk="0" h="2216277" w="12606782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6350"/>
                  </a:lnTo>
                  <a:lnTo>
                    <a:pt x="12440920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051177"/>
                  </a:lnTo>
                  <a:lnTo>
                    <a:pt x="12600432" y="2051177"/>
                  </a:lnTo>
                  <a:lnTo>
                    <a:pt x="12606782" y="2051177"/>
                  </a:lnTo>
                  <a:cubicBezTo>
                    <a:pt x="12606782" y="2142363"/>
                    <a:pt x="12532487" y="2216277"/>
                    <a:pt x="12440920" y="2216277"/>
                  </a:cubicBezTo>
                  <a:lnTo>
                    <a:pt x="12440920" y="2209927"/>
                  </a:lnTo>
                  <a:lnTo>
                    <a:pt x="12440920" y="2216277"/>
                  </a:lnTo>
                  <a:lnTo>
                    <a:pt x="165862" y="2216277"/>
                  </a:lnTo>
                  <a:lnTo>
                    <a:pt x="165862" y="2209927"/>
                  </a:lnTo>
                  <a:lnTo>
                    <a:pt x="165862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862" y="2203577"/>
                  </a:cubicBezTo>
                  <a:lnTo>
                    <a:pt x="12440920" y="2203577"/>
                  </a:lnTo>
                  <a:cubicBezTo>
                    <a:pt x="12525501" y="2203577"/>
                    <a:pt x="12594082" y="2135251"/>
                    <a:pt x="12594082" y="2051177"/>
                  </a:cubicBezTo>
                  <a:lnTo>
                    <a:pt x="12594082" y="165100"/>
                  </a:lnTo>
                  <a:cubicBezTo>
                    <a:pt x="12594082" y="80899"/>
                    <a:pt x="12525501" y="12700"/>
                    <a:pt x="1244092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17"/>
          <p:cNvSpPr txBox="1"/>
          <p:nvPr/>
        </p:nvSpPr>
        <p:spPr>
          <a:xfrm>
            <a:off x="8143284" y="7044033"/>
            <a:ext cx="400020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Opportunity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8143284" y="7580862"/>
            <a:ext cx="8859441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Target premium customers with exclusive offers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00" name="Google Shape;200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descr="preencoded.png" id="202" name="Google Shape;202;p18"/>
          <p:cNvSpPr/>
          <p:nvPr/>
        </p:nvSpPr>
        <p:spPr>
          <a:xfrm>
            <a:off x="0" y="0"/>
            <a:ext cx="18288000" cy="3544062"/>
          </a:xfrm>
          <a:custGeom>
            <a:rect b="b" l="l" r="r" t="t"/>
            <a:pathLst>
              <a:path extrusionOk="0" h="4725416" w="24384000">
                <a:moveTo>
                  <a:pt x="0" y="0"/>
                </a:moveTo>
                <a:lnTo>
                  <a:pt x="24384000" y="0"/>
                </a:lnTo>
                <a:lnTo>
                  <a:pt x="24384000" y="4725416"/>
                </a:lnTo>
                <a:lnTo>
                  <a:pt x="0" y="4725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0" r="-10" t="0"/>
            </a:stretch>
          </a:blipFill>
          <a:ln>
            <a:noFill/>
          </a:ln>
        </p:spPr>
      </p:sp>
      <p:sp>
        <p:nvSpPr>
          <p:cNvPr id="203" name="Google Shape;203;p18"/>
          <p:cNvSpPr txBox="1"/>
          <p:nvPr/>
        </p:nvSpPr>
        <p:spPr>
          <a:xfrm>
            <a:off x="992238" y="5340848"/>
            <a:ext cx="7265784" cy="91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Top-Rated Products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992238" y="7375922"/>
            <a:ext cx="354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Gloves :  3.86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992238" y="7912741"/>
            <a:ext cx="5198269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Highest customer satisfaction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9432427" y="6801888"/>
            <a:ext cx="35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544866" y="7375922"/>
            <a:ext cx="354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Sandals : 3.84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544866" y="7912741"/>
            <a:ext cx="5198269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Consistently excellent reviews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14985054" y="6801888"/>
            <a:ext cx="35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12097493" y="7375922"/>
            <a:ext cx="354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Boots : 3.82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12097493" y="7912741"/>
            <a:ext cx="5198269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Strong customer approval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20" name="Google Shape;220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descr="preencoded.png" id="222" name="Google Shape;222;p19">
            <a:hlinkClick r:id="rId4"/>
          </p:cNvPr>
          <p:cNvSpPr/>
          <p:nvPr/>
        </p:nvSpPr>
        <p:spPr>
          <a:xfrm>
            <a:off x="16049015" y="9686925"/>
            <a:ext cx="2153222" cy="514350"/>
          </a:xfrm>
          <a:custGeom>
            <a:rect b="b" l="l" r="r" t="t"/>
            <a:pathLst>
              <a:path extrusionOk="0" h="685800" w="2870962">
                <a:moveTo>
                  <a:pt x="0" y="0"/>
                </a:moveTo>
                <a:lnTo>
                  <a:pt x="2870962" y="0"/>
                </a:lnTo>
                <a:lnTo>
                  <a:pt x="2870962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" t="0"/>
            </a:stretch>
          </a:blipFill>
          <a:ln>
            <a:noFill/>
          </a:ln>
        </p:spPr>
      </p:sp>
      <p:sp>
        <p:nvSpPr>
          <p:cNvPr descr="preencoded.png" id="223" name="Google Shape;223;p19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3716000" w="9144000">
                <a:moveTo>
                  <a:pt x="0" y="0"/>
                </a:moveTo>
                <a:lnTo>
                  <a:pt x="9144000" y="0"/>
                </a:lnTo>
                <a:lnTo>
                  <a:pt x="914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9"/>
          <p:cNvSpPr txBox="1"/>
          <p:nvPr/>
        </p:nvSpPr>
        <p:spPr>
          <a:xfrm>
            <a:off x="992238" y="1742923"/>
            <a:ext cx="9445523" cy="180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Shipping Preferences Impact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992238" y="4233120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Express Shipping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992238" y="4921453"/>
            <a:ext cx="4377000" cy="1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24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$6</a:t>
            </a:r>
            <a:r>
              <a:rPr lang="en-US" sz="11124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992238" y="6938962"/>
            <a:ext cx="4376890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Average purchase amount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6070397" y="4233120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Standard Shipping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070397" y="4921453"/>
            <a:ext cx="4376890" cy="1829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24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$58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6070397" y="6938962"/>
            <a:ext cx="4376890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Average purchase amount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992238" y="7966624"/>
            <a:ext cx="9445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Express shipping customers spend 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3.45</a:t>
            </a: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% more per transaction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40" name="Google Shape;240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id="242" name="Google Shape;242;p20"/>
          <p:cNvSpPr txBox="1"/>
          <p:nvPr/>
        </p:nvSpPr>
        <p:spPr>
          <a:xfrm>
            <a:off x="992238" y="1515961"/>
            <a:ext cx="73992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 Customers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1847555" y="4945266"/>
            <a:ext cx="348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1819275" y="7656614"/>
            <a:ext cx="354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3085007" y="5000016"/>
            <a:ext cx="34872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27</a:t>
            </a:r>
            <a:r>
              <a:rPr b="0" i="0" lang="en-US" sz="5562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%</a:t>
            </a:r>
            <a:endParaRPr/>
          </a:p>
        </p:txBody>
      </p:sp>
      <p:sp>
        <p:nvSpPr>
          <p:cNvPr descr="preencoded.png" id="246" name="Google Shape;246;p20"/>
          <p:cNvSpPr/>
          <p:nvPr/>
        </p:nvSpPr>
        <p:spPr>
          <a:xfrm>
            <a:off x="2702144" y="3301668"/>
            <a:ext cx="4252913" cy="4252912"/>
          </a:xfrm>
          <a:custGeom>
            <a:rect b="b" l="l" r="r" t="t"/>
            <a:pathLst>
              <a:path extrusionOk="0" h="5670550" w="5670550">
                <a:moveTo>
                  <a:pt x="0" y="0"/>
                </a:moveTo>
                <a:lnTo>
                  <a:pt x="5670550" y="0"/>
                </a:lnTo>
                <a:lnTo>
                  <a:pt x="5670550" y="5670550"/>
                </a:lnTo>
                <a:lnTo>
                  <a:pt x="0" y="5670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20"/>
          <p:cNvSpPr txBox="1"/>
          <p:nvPr/>
        </p:nvSpPr>
        <p:spPr>
          <a:xfrm>
            <a:off x="3056577" y="7872014"/>
            <a:ext cx="354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Share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2229466" y="8425734"/>
            <a:ext cx="51984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From subscription customers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9753309" y="5000016"/>
            <a:ext cx="34872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91</a:t>
            </a:r>
            <a:r>
              <a:rPr b="0" i="0" lang="en-US" sz="5562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%</a:t>
            </a:r>
            <a:endParaRPr/>
          </a:p>
        </p:txBody>
      </p:sp>
      <p:sp>
        <p:nvSpPr>
          <p:cNvPr descr="preencoded.png" id="250" name="Google Shape;250;p20"/>
          <p:cNvSpPr/>
          <p:nvPr/>
        </p:nvSpPr>
        <p:spPr>
          <a:xfrm>
            <a:off x="9370446" y="3204043"/>
            <a:ext cx="4252913" cy="4252912"/>
          </a:xfrm>
          <a:custGeom>
            <a:rect b="b" l="l" r="r" t="t"/>
            <a:pathLst>
              <a:path extrusionOk="0" h="5670550" w="5670550">
                <a:moveTo>
                  <a:pt x="0" y="0"/>
                </a:moveTo>
                <a:lnTo>
                  <a:pt x="5670550" y="0"/>
                </a:lnTo>
                <a:lnTo>
                  <a:pt x="5670550" y="5670550"/>
                </a:lnTo>
                <a:lnTo>
                  <a:pt x="0" y="5670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20"/>
          <p:cNvSpPr txBox="1"/>
          <p:nvPr/>
        </p:nvSpPr>
        <p:spPr>
          <a:xfrm>
            <a:off x="9724955" y="7872014"/>
            <a:ext cx="354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Loyalty Rate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8800568" y="8425734"/>
            <a:ext cx="51984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Repeat purchase frequency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8516350" y="4961200"/>
            <a:ext cx="8541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62" name="Google Shape;262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id="264" name="Google Shape;264;p21"/>
          <p:cNvSpPr txBox="1"/>
          <p:nvPr/>
        </p:nvSpPr>
        <p:spPr>
          <a:xfrm>
            <a:off x="992238" y="1480690"/>
            <a:ext cx="8850516" cy="91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 Segmentation</a:t>
            </a:r>
            <a:endParaRPr/>
          </a:p>
        </p:txBody>
      </p:sp>
      <p:sp>
        <p:nvSpPr>
          <p:cNvPr descr="preencoded.png" id="265" name="Google Shape;265;p21"/>
          <p:cNvSpPr/>
          <p:nvPr/>
        </p:nvSpPr>
        <p:spPr>
          <a:xfrm>
            <a:off x="3722932" y="2962275"/>
            <a:ext cx="2690051" cy="1633728"/>
          </a:xfrm>
          <a:custGeom>
            <a:rect b="b" l="l" r="r" t="t"/>
            <a:pathLst>
              <a:path extrusionOk="0" h="2178304" w="3586734">
                <a:moveTo>
                  <a:pt x="0" y="0"/>
                </a:moveTo>
                <a:lnTo>
                  <a:pt x="3586734" y="0"/>
                </a:lnTo>
                <a:lnTo>
                  <a:pt x="3586734" y="2178304"/>
                </a:lnTo>
                <a:lnTo>
                  <a:pt x="0" y="2178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3" l="0" r="0" t="-216"/>
            </a:stretch>
          </a:blipFill>
          <a:ln>
            <a:noFill/>
          </a:ln>
        </p:spPr>
      </p:sp>
      <p:sp>
        <p:nvSpPr>
          <p:cNvPr id="266" name="Google Shape;266;p21"/>
          <p:cNvSpPr txBox="1"/>
          <p:nvPr/>
        </p:nvSpPr>
        <p:spPr>
          <a:xfrm>
            <a:off x="4868618" y="3618014"/>
            <a:ext cx="398707" cy="612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5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6696523" y="3226746"/>
            <a:ext cx="354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New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6696523" y="3763566"/>
            <a:ext cx="3600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% - First 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Time Buyers</a:t>
            </a: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6483848" y="4612329"/>
            <a:ext cx="10741058" cy="19050"/>
          </a:xfrm>
          <a:custGeom>
            <a:rect b="b" l="l" r="r" t="t"/>
            <a:pathLst>
              <a:path extrusionOk="0" h="25400" w="14321410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lnTo>
                  <a:pt x="14308710" y="0"/>
                </a:lnTo>
                <a:cubicBezTo>
                  <a:pt x="14315695" y="0"/>
                  <a:pt x="14321410" y="5715"/>
                  <a:pt x="14321410" y="12700"/>
                </a:cubicBezTo>
                <a:cubicBezTo>
                  <a:pt x="14321410" y="19685"/>
                  <a:pt x="14315695" y="25400"/>
                  <a:pt x="14308710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lose/>
              </a:path>
            </a:pathLst>
          </a:cu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70" name="Google Shape;270;p21"/>
          <p:cNvSpPr/>
          <p:nvPr/>
        </p:nvSpPr>
        <p:spPr>
          <a:xfrm>
            <a:off x="2377973" y="4666802"/>
            <a:ext cx="5380101" cy="1633728"/>
          </a:xfrm>
          <a:custGeom>
            <a:rect b="b" l="l" r="r" t="t"/>
            <a:pathLst>
              <a:path extrusionOk="0" h="2178304" w="7173468">
                <a:moveTo>
                  <a:pt x="0" y="0"/>
                </a:moveTo>
                <a:lnTo>
                  <a:pt x="7173468" y="0"/>
                </a:lnTo>
                <a:lnTo>
                  <a:pt x="7173468" y="2178304"/>
                </a:lnTo>
                <a:lnTo>
                  <a:pt x="0" y="2178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4" l="0" r="0" t="-127"/>
            </a:stretch>
          </a:blipFill>
          <a:ln>
            <a:noFill/>
          </a:ln>
        </p:spPr>
      </p:sp>
      <p:sp>
        <p:nvSpPr>
          <p:cNvPr id="271" name="Google Shape;271;p21"/>
          <p:cNvSpPr txBox="1"/>
          <p:nvPr/>
        </p:nvSpPr>
        <p:spPr>
          <a:xfrm>
            <a:off x="4868618" y="5120135"/>
            <a:ext cx="398707" cy="612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5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8041634" y="4931273"/>
            <a:ext cx="3141164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Returning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8041634" y="5468093"/>
            <a:ext cx="3141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16</a:t>
            </a: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% - Regular 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hoppers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7828959" y="6316866"/>
            <a:ext cx="9395936" cy="19050"/>
          </a:xfrm>
          <a:custGeom>
            <a:rect b="b" l="l" r="r" t="t"/>
            <a:pathLst>
              <a:path extrusionOk="0" h="25400" w="12527915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lnTo>
                  <a:pt x="12515215" y="0"/>
                </a:lnTo>
                <a:cubicBezTo>
                  <a:pt x="12522200" y="0"/>
                  <a:pt x="12527915" y="5715"/>
                  <a:pt x="12527915" y="12700"/>
                </a:cubicBezTo>
                <a:cubicBezTo>
                  <a:pt x="12527915" y="19685"/>
                  <a:pt x="12522200" y="25400"/>
                  <a:pt x="12515215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lose/>
              </a:path>
            </a:pathLst>
          </a:cu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75" name="Google Shape;275;p21"/>
          <p:cNvSpPr/>
          <p:nvPr/>
        </p:nvSpPr>
        <p:spPr>
          <a:xfrm>
            <a:off x="1032872" y="6371330"/>
            <a:ext cx="8070247" cy="1633728"/>
          </a:xfrm>
          <a:custGeom>
            <a:rect b="b" l="l" r="r" t="t"/>
            <a:pathLst>
              <a:path extrusionOk="0" h="2178304" w="10760329">
                <a:moveTo>
                  <a:pt x="0" y="0"/>
                </a:moveTo>
                <a:lnTo>
                  <a:pt x="10760329" y="0"/>
                </a:lnTo>
                <a:lnTo>
                  <a:pt x="10760329" y="2178304"/>
                </a:lnTo>
                <a:lnTo>
                  <a:pt x="0" y="2178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54" l="0" r="0" t="-156"/>
            </a:stretch>
          </a:blipFill>
          <a:ln>
            <a:noFill/>
          </a:ln>
        </p:spPr>
      </p:sp>
      <p:sp>
        <p:nvSpPr>
          <p:cNvPr id="276" name="Google Shape;276;p21"/>
          <p:cNvSpPr txBox="1"/>
          <p:nvPr/>
        </p:nvSpPr>
        <p:spPr>
          <a:xfrm>
            <a:off x="4868466" y="6824662"/>
            <a:ext cx="398707" cy="612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5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9386592" y="6635801"/>
            <a:ext cx="31785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9386602" y="7172625"/>
            <a:ext cx="4164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82</a:t>
            </a: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% - 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 Value Customers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992238" y="8228705"/>
            <a:ext cx="1630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Maintaining our massive 82% Loyal customer base while finding new ways to acquire first time-buyers.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88" name="Google Shape;288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descr="preencoded.png" id="290" name="Google Shape;290;p22"/>
          <p:cNvSpPr/>
          <p:nvPr/>
        </p:nvSpPr>
        <p:spPr>
          <a:xfrm>
            <a:off x="0" y="0"/>
            <a:ext cx="6858000" cy="10290714"/>
          </a:xfrm>
          <a:custGeom>
            <a:rect b="b" l="l" r="r" t="t"/>
            <a:pathLst>
              <a:path extrusionOk="0" h="13720953" w="9144000">
                <a:moveTo>
                  <a:pt x="0" y="0"/>
                </a:moveTo>
                <a:lnTo>
                  <a:pt x="9144000" y="0"/>
                </a:lnTo>
                <a:lnTo>
                  <a:pt x="9144000" y="13720953"/>
                </a:lnTo>
                <a:lnTo>
                  <a:pt x="0" y="1372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8" r="-18" t="0"/>
            </a:stretch>
          </a:blipFill>
          <a:ln>
            <a:noFill/>
          </a:ln>
        </p:spPr>
      </p:sp>
      <p:sp>
        <p:nvSpPr>
          <p:cNvPr id="291" name="Google Shape;291;p22"/>
          <p:cNvSpPr txBox="1"/>
          <p:nvPr/>
        </p:nvSpPr>
        <p:spPr>
          <a:xfrm>
            <a:off x="7543352" y="509883"/>
            <a:ext cx="7076037" cy="640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2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1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Recommendations</a:t>
            </a:r>
            <a:endParaRPr/>
          </a:p>
        </p:txBody>
      </p:sp>
      <p:grpSp>
        <p:nvGrpSpPr>
          <p:cNvPr id="292" name="Google Shape;292;p22"/>
          <p:cNvGrpSpPr/>
          <p:nvPr/>
        </p:nvGrpSpPr>
        <p:grpSpPr>
          <a:xfrm>
            <a:off x="7538590" y="1439170"/>
            <a:ext cx="10068783" cy="1939861"/>
            <a:chOff x="0" y="0"/>
            <a:chExt cx="13425044" cy="2586482"/>
          </a:xfrm>
        </p:grpSpPr>
        <p:sp>
          <p:nvSpPr>
            <p:cNvPr id="293" name="Google Shape;293;p22"/>
            <p:cNvSpPr/>
            <p:nvPr/>
          </p:nvSpPr>
          <p:spPr>
            <a:xfrm>
              <a:off x="6350" y="6350"/>
              <a:ext cx="13412344" cy="2573782"/>
            </a:xfrm>
            <a:custGeom>
              <a:rect b="b" l="l" r="r" t="t"/>
              <a:pathLst>
                <a:path extrusionOk="0" h="2573782" w="13412344">
                  <a:moveTo>
                    <a:pt x="0" y="109728"/>
                  </a:moveTo>
                  <a:cubicBezTo>
                    <a:pt x="0" y="49149"/>
                    <a:pt x="49276" y="0"/>
                    <a:pt x="110109" y="0"/>
                  </a:cubicBezTo>
                  <a:lnTo>
                    <a:pt x="13302235" y="0"/>
                  </a:lnTo>
                  <a:cubicBezTo>
                    <a:pt x="13363068" y="0"/>
                    <a:pt x="13412344" y="49149"/>
                    <a:pt x="13412344" y="109728"/>
                  </a:cubicBezTo>
                  <a:lnTo>
                    <a:pt x="13412344" y="2464054"/>
                  </a:lnTo>
                  <a:cubicBezTo>
                    <a:pt x="13412344" y="2524633"/>
                    <a:pt x="13363068" y="2573782"/>
                    <a:pt x="13302235" y="2573782"/>
                  </a:cubicBezTo>
                  <a:lnTo>
                    <a:pt x="110109" y="2573782"/>
                  </a:lnTo>
                  <a:cubicBezTo>
                    <a:pt x="49276" y="2573782"/>
                    <a:pt x="0" y="2524633"/>
                    <a:pt x="0" y="2464054"/>
                  </a:cubicBezTo>
                  <a:close/>
                </a:path>
              </a:pathLst>
            </a:custGeom>
            <a:solidFill>
              <a:srgbClr val="F7E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0" y="0"/>
              <a:ext cx="13425044" cy="2586482"/>
            </a:xfrm>
            <a:custGeom>
              <a:rect b="b" l="l" r="r" t="t"/>
              <a:pathLst>
                <a:path extrusionOk="0" h="2586482" w="13425044">
                  <a:moveTo>
                    <a:pt x="0" y="116078"/>
                  </a:moveTo>
                  <a:cubicBezTo>
                    <a:pt x="0" y="51943"/>
                    <a:pt x="52197" y="0"/>
                    <a:pt x="116459" y="0"/>
                  </a:cubicBezTo>
                  <a:lnTo>
                    <a:pt x="13308585" y="0"/>
                  </a:lnTo>
                  <a:lnTo>
                    <a:pt x="13308585" y="6350"/>
                  </a:lnTo>
                  <a:lnTo>
                    <a:pt x="13308585" y="0"/>
                  </a:lnTo>
                  <a:cubicBezTo>
                    <a:pt x="13372847" y="0"/>
                    <a:pt x="13425044" y="51943"/>
                    <a:pt x="13425044" y="116078"/>
                  </a:cubicBezTo>
                  <a:lnTo>
                    <a:pt x="13418694" y="116078"/>
                  </a:lnTo>
                  <a:lnTo>
                    <a:pt x="13425044" y="116078"/>
                  </a:lnTo>
                  <a:lnTo>
                    <a:pt x="13425044" y="2470404"/>
                  </a:lnTo>
                  <a:lnTo>
                    <a:pt x="13418694" y="2470404"/>
                  </a:lnTo>
                  <a:lnTo>
                    <a:pt x="13425044" y="2470404"/>
                  </a:lnTo>
                  <a:cubicBezTo>
                    <a:pt x="13425044" y="2534539"/>
                    <a:pt x="13372847" y="2586482"/>
                    <a:pt x="13308585" y="2586482"/>
                  </a:cubicBezTo>
                  <a:lnTo>
                    <a:pt x="13308585" y="2580132"/>
                  </a:lnTo>
                  <a:lnTo>
                    <a:pt x="13308585" y="2586482"/>
                  </a:lnTo>
                  <a:lnTo>
                    <a:pt x="116459" y="2586482"/>
                  </a:lnTo>
                  <a:lnTo>
                    <a:pt x="116459" y="2580132"/>
                  </a:lnTo>
                  <a:lnTo>
                    <a:pt x="116459" y="2586482"/>
                  </a:lnTo>
                  <a:cubicBezTo>
                    <a:pt x="52197" y="2586482"/>
                    <a:pt x="0" y="2534539"/>
                    <a:pt x="0" y="2470404"/>
                  </a:cubicBezTo>
                  <a:lnTo>
                    <a:pt x="0" y="116078"/>
                  </a:lnTo>
                  <a:lnTo>
                    <a:pt x="6350" y="116078"/>
                  </a:lnTo>
                  <a:lnTo>
                    <a:pt x="0" y="116078"/>
                  </a:lnTo>
                  <a:moveTo>
                    <a:pt x="12700" y="116078"/>
                  </a:moveTo>
                  <a:lnTo>
                    <a:pt x="12700" y="2470404"/>
                  </a:lnTo>
                  <a:lnTo>
                    <a:pt x="6350" y="2470404"/>
                  </a:lnTo>
                  <a:lnTo>
                    <a:pt x="12700" y="2470404"/>
                  </a:lnTo>
                  <a:cubicBezTo>
                    <a:pt x="12700" y="2527427"/>
                    <a:pt x="59182" y="2573782"/>
                    <a:pt x="116459" y="2573782"/>
                  </a:cubicBezTo>
                  <a:lnTo>
                    <a:pt x="13308585" y="2573782"/>
                  </a:lnTo>
                  <a:cubicBezTo>
                    <a:pt x="13365862" y="2573782"/>
                    <a:pt x="13412344" y="2527554"/>
                    <a:pt x="13412344" y="2470404"/>
                  </a:cubicBezTo>
                  <a:lnTo>
                    <a:pt x="13412344" y="116078"/>
                  </a:lnTo>
                  <a:cubicBezTo>
                    <a:pt x="13412344" y="59055"/>
                    <a:pt x="13365862" y="12700"/>
                    <a:pt x="13308585" y="12700"/>
                  </a:cubicBezTo>
                  <a:lnTo>
                    <a:pt x="116459" y="12700"/>
                  </a:lnTo>
                  <a:lnTo>
                    <a:pt x="116459" y="6350"/>
                  </a:lnTo>
                  <a:lnTo>
                    <a:pt x="116459" y="12700"/>
                  </a:lnTo>
                  <a:cubicBezTo>
                    <a:pt x="59182" y="12700"/>
                    <a:pt x="12700" y="58928"/>
                    <a:pt x="12700" y="116078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5" name="Google Shape;295;p22"/>
          <p:cNvSpPr/>
          <p:nvPr/>
        </p:nvSpPr>
        <p:spPr>
          <a:xfrm>
            <a:off x="7748588" y="1649168"/>
            <a:ext cx="587407" cy="587407"/>
          </a:xfrm>
          <a:custGeom>
            <a:rect b="b" l="l" r="r" t="t"/>
            <a:pathLst>
              <a:path extrusionOk="0" h="783209" w="783209">
                <a:moveTo>
                  <a:pt x="0" y="391668"/>
                </a:moveTo>
                <a:cubicBezTo>
                  <a:pt x="0" y="175387"/>
                  <a:pt x="175387" y="0"/>
                  <a:pt x="391668" y="0"/>
                </a:cubicBezTo>
                <a:cubicBezTo>
                  <a:pt x="607949" y="0"/>
                  <a:pt x="783209" y="175387"/>
                  <a:pt x="783209" y="391668"/>
                </a:cubicBezTo>
                <a:cubicBezTo>
                  <a:pt x="783209" y="607949"/>
                  <a:pt x="607949" y="783209"/>
                  <a:pt x="391668" y="783209"/>
                </a:cubicBezTo>
                <a:cubicBezTo>
                  <a:pt x="175387" y="783209"/>
                  <a:pt x="0" y="607949"/>
                  <a:pt x="0" y="391668"/>
                </a:cubicBezTo>
                <a:close/>
              </a:path>
            </a:pathLst>
          </a:cu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96" name="Google Shape;296;p22"/>
          <p:cNvSpPr/>
          <p:nvPr/>
        </p:nvSpPr>
        <p:spPr>
          <a:xfrm>
            <a:off x="7910065" y="1777603"/>
            <a:ext cx="264319" cy="330422"/>
          </a:xfrm>
          <a:custGeom>
            <a:rect b="b" l="l" r="r" t="t"/>
            <a:pathLst>
              <a:path extrusionOk="0" h="440563" w="352425">
                <a:moveTo>
                  <a:pt x="0" y="0"/>
                </a:moveTo>
                <a:lnTo>
                  <a:pt x="352425" y="0"/>
                </a:lnTo>
                <a:lnTo>
                  <a:pt x="352425" y="440563"/>
                </a:lnTo>
                <a:lnTo>
                  <a:pt x="0" y="440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5" l="0" r="0" t="0"/>
            </a:stretch>
          </a:blipFill>
          <a:ln>
            <a:noFill/>
          </a:ln>
        </p:spPr>
      </p:sp>
      <p:sp>
        <p:nvSpPr>
          <p:cNvPr id="297" name="Google Shape;297;p22"/>
          <p:cNvSpPr txBox="1"/>
          <p:nvPr/>
        </p:nvSpPr>
        <p:spPr>
          <a:xfrm>
            <a:off x="7748588" y="2432294"/>
            <a:ext cx="2487368" cy="30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7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4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Boost Subscriptions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7748588" y="2789034"/>
            <a:ext cx="9648825" cy="379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4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Promote exclusive benefits for subscribers</a:t>
            </a:r>
            <a:endParaRPr/>
          </a:p>
        </p:txBody>
      </p:sp>
      <p:grpSp>
        <p:nvGrpSpPr>
          <p:cNvPr id="299" name="Google Shape;299;p22"/>
          <p:cNvGrpSpPr/>
          <p:nvPr/>
        </p:nvGrpSpPr>
        <p:grpSpPr>
          <a:xfrm>
            <a:off x="7538590" y="3565179"/>
            <a:ext cx="10068783" cy="1939861"/>
            <a:chOff x="0" y="0"/>
            <a:chExt cx="13425044" cy="2586482"/>
          </a:xfrm>
        </p:grpSpPr>
        <p:sp>
          <p:nvSpPr>
            <p:cNvPr id="300" name="Google Shape;300;p22"/>
            <p:cNvSpPr/>
            <p:nvPr/>
          </p:nvSpPr>
          <p:spPr>
            <a:xfrm>
              <a:off x="6350" y="6350"/>
              <a:ext cx="13412344" cy="2573782"/>
            </a:xfrm>
            <a:custGeom>
              <a:rect b="b" l="l" r="r" t="t"/>
              <a:pathLst>
                <a:path extrusionOk="0" h="2573782" w="13412344">
                  <a:moveTo>
                    <a:pt x="0" y="109728"/>
                  </a:moveTo>
                  <a:cubicBezTo>
                    <a:pt x="0" y="49149"/>
                    <a:pt x="49276" y="0"/>
                    <a:pt x="110109" y="0"/>
                  </a:cubicBezTo>
                  <a:lnTo>
                    <a:pt x="13302235" y="0"/>
                  </a:lnTo>
                  <a:cubicBezTo>
                    <a:pt x="13363068" y="0"/>
                    <a:pt x="13412344" y="49149"/>
                    <a:pt x="13412344" y="109728"/>
                  </a:cubicBezTo>
                  <a:lnTo>
                    <a:pt x="13412344" y="2464054"/>
                  </a:lnTo>
                  <a:cubicBezTo>
                    <a:pt x="13412344" y="2524633"/>
                    <a:pt x="13363068" y="2573782"/>
                    <a:pt x="13302235" y="2573782"/>
                  </a:cubicBezTo>
                  <a:lnTo>
                    <a:pt x="110109" y="2573782"/>
                  </a:lnTo>
                  <a:cubicBezTo>
                    <a:pt x="49276" y="2573782"/>
                    <a:pt x="0" y="2524633"/>
                    <a:pt x="0" y="2464054"/>
                  </a:cubicBezTo>
                  <a:close/>
                </a:path>
              </a:pathLst>
            </a:custGeom>
            <a:solidFill>
              <a:srgbClr val="F7E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0" y="0"/>
              <a:ext cx="13425044" cy="2586482"/>
            </a:xfrm>
            <a:custGeom>
              <a:rect b="b" l="l" r="r" t="t"/>
              <a:pathLst>
                <a:path extrusionOk="0" h="2586482" w="13425044">
                  <a:moveTo>
                    <a:pt x="0" y="116078"/>
                  </a:moveTo>
                  <a:cubicBezTo>
                    <a:pt x="0" y="51943"/>
                    <a:pt x="52197" y="0"/>
                    <a:pt x="116459" y="0"/>
                  </a:cubicBezTo>
                  <a:lnTo>
                    <a:pt x="13308585" y="0"/>
                  </a:lnTo>
                  <a:lnTo>
                    <a:pt x="13308585" y="6350"/>
                  </a:lnTo>
                  <a:lnTo>
                    <a:pt x="13308585" y="0"/>
                  </a:lnTo>
                  <a:cubicBezTo>
                    <a:pt x="13372847" y="0"/>
                    <a:pt x="13425044" y="51943"/>
                    <a:pt x="13425044" y="116078"/>
                  </a:cubicBezTo>
                  <a:lnTo>
                    <a:pt x="13418694" y="116078"/>
                  </a:lnTo>
                  <a:lnTo>
                    <a:pt x="13425044" y="116078"/>
                  </a:lnTo>
                  <a:lnTo>
                    <a:pt x="13425044" y="2470404"/>
                  </a:lnTo>
                  <a:lnTo>
                    <a:pt x="13418694" y="2470404"/>
                  </a:lnTo>
                  <a:lnTo>
                    <a:pt x="13425044" y="2470404"/>
                  </a:lnTo>
                  <a:cubicBezTo>
                    <a:pt x="13425044" y="2534539"/>
                    <a:pt x="13372847" y="2586482"/>
                    <a:pt x="13308585" y="2586482"/>
                  </a:cubicBezTo>
                  <a:lnTo>
                    <a:pt x="13308585" y="2580132"/>
                  </a:lnTo>
                  <a:lnTo>
                    <a:pt x="13308585" y="2586482"/>
                  </a:lnTo>
                  <a:lnTo>
                    <a:pt x="116459" y="2586482"/>
                  </a:lnTo>
                  <a:lnTo>
                    <a:pt x="116459" y="2580132"/>
                  </a:lnTo>
                  <a:lnTo>
                    <a:pt x="116459" y="2586482"/>
                  </a:lnTo>
                  <a:cubicBezTo>
                    <a:pt x="52197" y="2586482"/>
                    <a:pt x="0" y="2534539"/>
                    <a:pt x="0" y="2470404"/>
                  </a:cubicBezTo>
                  <a:lnTo>
                    <a:pt x="0" y="116078"/>
                  </a:lnTo>
                  <a:lnTo>
                    <a:pt x="6350" y="116078"/>
                  </a:lnTo>
                  <a:lnTo>
                    <a:pt x="0" y="116078"/>
                  </a:lnTo>
                  <a:moveTo>
                    <a:pt x="12700" y="116078"/>
                  </a:moveTo>
                  <a:lnTo>
                    <a:pt x="12700" y="2470404"/>
                  </a:lnTo>
                  <a:lnTo>
                    <a:pt x="6350" y="2470404"/>
                  </a:lnTo>
                  <a:lnTo>
                    <a:pt x="12700" y="2470404"/>
                  </a:lnTo>
                  <a:cubicBezTo>
                    <a:pt x="12700" y="2527427"/>
                    <a:pt x="59182" y="2573782"/>
                    <a:pt x="116459" y="2573782"/>
                  </a:cubicBezTo>
                  <a:lnTo>
                    <a:pt x="13308585" y="2573782"/>
                  </a:lnTo>
                  <a:cubicBezTo>
                    <a:pt x="13365862" y="2573782"/>
                    <a:pt x="13412344" y="2527554"/>
                    <a:pt x="13412344" y="2470404"/>
                  </a:cubicBezTo>
                  <a:lnTo>
                    <a:pt x="13412344" y="116078"/>
                  </a:lnTo>
                  <a:cubicBezTo>
                    <a:pt x="13412344" y="59055"/>
                    <a:pt x="13365862" y="12700"/>
                    <a:pt x="13308585" y="12700"/>
                  </a:cubicBezTo>
                  <a:lnTo>
                    <a:pt x="116459" y="12700"/>
                  </a:lnTo>
                  <a:lnTo>
                    <a:pt x="116459" y="6350"/>
                  </a:lnTo>
                  <a:lnTo>
                    <a:pt x="116459" y="12700"/>
                  </a:lnTo>
                  <a:cubicBezTo>
                    <a:pt x="59182" y="12700"/>
                    <a:pt x="12700" y="58928"/>
                    <a:pt x="12700" y="116078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22"/>
          <p:cNvSpPr/>
          <p:nvPr/>
        </p:nvSpPr>
        <p:spPr>
          <a:xfrm>
            <a:off x="7748588" y="3775177"/>
            <a:ext cx="587407" cy="587407"/>
          </a:xfrm>
          <a:custGeom>
            <a:rect b="b" l="l" r="r" t="t"/>
            <a:pathLst>
              <a:path extrusionOk="0" h="783209" w="783209">
                <a:moveTo>
                  <a:pt x="0" y="391668"/>
                </a:moveTo>
                <a:cubicBezTo>
                  <a:pt x="0" y="175387"/>
                  <a:pt x="175387" y="0"/>
                  <a:pt x="391668" y="0"/>
                </a:cubicBezTo>
                <a:cubicBezTo>
                  <a:pt x="607949" y="0"/>
                  <a:pt x="783209" y="175387"/>
                  <a:pt x="783209" y="391668"/>
                </a:cubicBezTo>
                <a:cubicBezTo>
                  <a:pt x="783209" y="607949"/>
                  <a:pt x="607949" y="783209"/>
                  <a:pt x="391668" y="783209"/>
                </a:cubicBezTo>
                <a:cubicBezTo>
                  <a:pt x="175387" y="783209"/>
                  <a:pt x="0" y="607949"/>
                  <a:pt x="0" y="391668"/>
                </a:cubicBezTo>
                <a:close/>
              </a:path>
            </a:pathLst>
          </a:cu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03" name="Google Shape;303;p22"/>
          <p:cNvSpPr/>
          <p:nvPr/>
        </p:nvSpPr>
        <p:spPr>
          <a:xfrm>
            <a:off x="7910065" y="3903612"/>
            <a:ext cx="264319" cy="330422"/>
          </a:xfrm>
          <a:custGeom>
            <a:rect b="b" l="l" r="r" t="t"/>
            <a:pathLst>
              <a:path extrusionOk="0" h="440563" w="352425">
                <a:moveTo>
                  <a:pt x="0" y="0"/>
                </a:moveTo>
                <a:lnTo>
                  <a:pt x="352425" y="0"/>
                </a:lnTo>
                <a:lnTo>
                  <a:pt x="352425" y="440563"/>
                </a:lnTo>
                <a:lnTo>
                  <a:pt x="0" y="440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5" l="0" r="0" t="0"/>
            </a:stretch>
          </a:blipFill>
          <a:ln>
            <a:noFill/>
          </a:ln>
        </p:spPr>
      </p:sp>
      <p:sp>
        <p:nvSpPr>
          <p:cNvPr id="304" name="Google Shape;304;p22"/>
          <p:cNvSpPr txBox="1"/>
          <p:nvPr/>
        </p:nvSpPr>
        <p:spPr>
          <a:xfrm>
            <a:off x="7748588" y="4558303"/>
            <a:ext cx="2447630" cy="30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7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4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Loyalty Programs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7748588" y="4915052"/>
            <a:ext cx="9648825" cy="379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4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Reward repeat buyers to increase retention</a:t>
            </a:r>
            <a:endParaRPr/>
          </a:p>
        </p:txBody>
      </p:sp>
      <p:grpSp>
        <p:nvGrpSpPr>
          <p:cNvPr id="306" name="Google Shape;306;p22"/>
          <p:cNvGrpSpPr/>
          <p:nvPr/>
        </p:nvGrpSpPr>
        <p:grpSpPr>
          <a:xfrm>
            <a:off x="7538590" y="5691188"/>
            <a:ext cx="10068783" cy="1939861"/>
            <a:chOff x="0" y="0"/>
            <a:chExt cx="13425044" cy="2586482"/>
          </a:xfrm>
        </p:grpSpPr>
        <p:sp>
          <p:nvSpPr>
            <p:cNvPr id="307" name="Google Shape;307;p22"/>
            <p:cNvSpPr/>
            <p:nvPr/>
          </p:nvSpPr>
          <p:spPr>
            <a:xfrm>
              <a:off x="6350" y="6350"/>
              <a:ext cx="13412344" cy="2573782"/>
            </a:xfrm>
            <a:custGeom>
              <a:rect b="b" l="l" r="r" t="t"/>
              <a:pathLst>
                <a:path extrusionOk="0" h="2573782" w="13412344">
                  <a:moveTo>
                    <a:pt x="0" y="109728"/>
                  </a:moveTo>
                  <a:cubicBezTo>
                    <a:pt x="0" y="49149"/>
                    <a:pt x="49276" y="0"/>
                    <a:pt x="110109" y="0"/>
                  </a:cubicBezTo>
                  <a:lnTo>
                    <a:pt x="13302235" y="0"/>
                  </a:lnTo>
                  <a:cubicBezTo>
                    <a:pt x="13363068" y="0"/>
                    <a:pt x="13412344" y="49149"/>
                    <a:pt x="13412344" y="109728"/>
                  </a:cubicBezTo>
                  <a:lnTo>
                    <a:pt x="13412344" y="2464054"/>
                  </a:lnTo>
                  <a:cubicBezTo>
                    <a:pt x="13412344" y="2524633"/>
                    <a:pt x="13363068" y="2573782"/>
                    <a:pt x="13302235" y="2573782"/>
                  </a:cubicBezTo>
                  <a:lnTo>
                    <a:pt x="110109" y="2573782"/>
                  </a:lnTo>
                  <a:cubicBezTo>
                    <a:pt x="49276" y="2573782"/>
                    <a:pt x="0" y="2524633"/>
                    <a:pt x="0" y="2464054"/>
                  </a:cubicBezTo>
                  <a:close/>
                </a:path>
              </a:pathLst>
            </a:custGeom>
            <a:solidFill>
              <a:srgbClr val="F7E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0" y="0"/>
              <a:ext cx="13425044" cy="2586482"/>
            </a:xfrm>
            <a:custGeom>
              <a:rect b="b" l="l" r="r" t="t"/>
              <a:pathLst>
                <a:path extrusionOk="0" h="2586482" w="13425044">
                  <a:moveTo>
                    <a:pt x="0" y="116078"/>
                  </a:moveTo>
                  <a:cubicBezTo>
                    <a:pt x="0" y="51943"/>
                    <a:pt x="52197" y="0"/>
                    <a:pt x="116459" y="0"/>
                  </a:cubicBezTo>
                  <a:lnTo>
                    <a:pt x="13308585" y="0"/>
                  </a:lnTo>
                  <a:lnTo>
                    <a:pt x="13308585" y="6350"/>
                  </a:lnTo>
                  <a:lnTo>
                    <a:pt x="13308585" y="0"/>
                  </a:lnTo>
                  <a:cubicBezTo>
                    <a:pt x="13372847" y="0"/>
                    <a:pt x="13425044" y="51943"/>
                    <a:pt x="13425044" y="116078"/>
                  </a:cubicBezTo>
                  <a:lnTo>
                    <a:pt x="13418694" y="116078"/>
                  </a:lnTo>
                  <a:lnTo>
                    <a:pt x="13425044" y="116078"/>
                  </a:lnTo>
                  <a:lnTo>
                    <a:pt x="13425044" y="2470404"/>
                  </a:lnTo>
                  <a:lnTo>
                    <a:pt x="13418694" y="2470404"/>
                  </a:lnTo>
                  <a:lnTo>
                    <a:pt x="13425044" y="2470404"/>
                  </a:lnTo>
                  <a:cubicBezTo>
                    <a:pt x="13425044" y="2534539"/>
                    <a:pt x="13372847" y="2586482"/>
                    <a:pt x="13308585" y="2586482"/>
                  </a:cubicBezTo>
                  <a:lnTo>
                    <a:pt x="13308585" y="2580132"/>
                  </a:lnTo>
                  <a:lnTo>
                    <a:pt x="13308585" y="2586482"/>
                  </a:lnTo>
                  <a:lnTo>
                    <a:pt x="116459" y="2586482"/>
                  </a:lnTo>
                  <a:lnTo>
                    <a:pt x="116459" y="2580132"/>
                  </a:lnTo>
                  <a:lnTo>
                    <a:pt x="116459" y="2586482"/>
                  </a:lnTo>
                  <a:cubicBezTo>
                    <a:pt x="52197" y="2586482"/>
                    <a:pt x="0" y="2534539"/>
                    <a:pt x="0" y="2470404"/>
                  </a:cubicBezTo>
                  <a:lnTo>
                    <a:pt x="0" y="116078"/>
                  </a:lnTo>
                  <a:lnTo>
                    <a:pt x="6350" y="116078"/>
                  </a:lnTo>
                  <a:lnTo>
                    <a:pt x="0" y="116078"/>
                  </a:lnTo>
                  <a:moveTo>
                    <a:pt x="12700" y="116078"/>
                  </a:moveTo>
                  <a:lnTo>
                    <a:pt x="12700" y="2470404"/>
                  </a:lnTo>
                  <a:lnTo>
                    <a:pt x="6350" y="2470404"/>
                  </a:lnTo>
                  <a:lnTo>
                    <a:pt x="12700" y="2470404"/>
                  </a:lnTo>
                  <a:cubicBezTo>
                    <a:pt x="12700" y="2527427"/>
                    <a:pt x="59182" y="2573782"/>
                    <a:pt x="116459" y="2573782"/>
                  </a:cubicBezTo>
                  <a:lnTo>
                    <a:pt x="13308585" y="2573782"/>
                  </a:lnTo>
                  <a:cubicBezTo>
                    <a:pt x="13365862" y="2573782"/>
                    <a:pt x="13412344" y="2527554"/>
                    <a:pt x="13412344" y="2470404"/>
                  </a:cubicBezTo>
                  <a:lnTo>
                    <a:pt x="13412344" y="116078"/>
                  </a:lnTo>
                  <a:cubicBezTo>
                    <a:pt x="13412344" y="59055"/>
                    <a:pt x="13365862" y="12700"/>
                    <a:pt x="13308585" y="12700"/>
                  </a:cubicBezTo>
                  <a:lnTo>
                    <a:pt x="116459" y="12700"/>
                  </a:lnTo>
                  <a:lnTo>
                    <a:pt x="116459" y="6350"/>
                  </a:lnTo>
                  <a:lnTo>
                    <a:pt x="116459" y="12700"/>
                  </a:lnTo>
                  <a:cubicBezTo>
                    <a:pt x="59182" y="12700"/>
                    <a:pt x="12700" y="58928"/>
                    <a:pt x="12700" y="116078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" name="Google Shape;309;p22"/>
          <p:cNvSpPr/>
          <p:nvPr/>
        </p:nvSpPr>
        <p:spPr>
          <a:xfrm>
            <a:off x="7748588" y="5901185"/>
            <a:ext cx="587407" cy="587407"/>
          </a:xfrm>
          <a:custGeom>
            <a:rect b="b" l="l" r="r" t="t"/>
            <a:pathLst>
              <a:path extrusionOk="0" h="783209" w="783209">
                <a:moveTo>
                  <a:pt x="0" y="391668"/>
                </a:moveTo>
                <a:cubicBezTo>
                  <a:pt x="0" y="175387"/>
                  <a:pt x="175387" y="0"/>
                  <a:pt x="391668" y="0"/>
                </a:cubicBezTo>
                <a:cubicBezTo>
                  <a:pt x="607949" y="0"/>
                  <a:pt x="783209" y="175387"/>
                  <a:pt x="783209" y="391668"/>
                </a:cubicBezTo>
                <a:cubicBezTo>
                  <a:pt x="783209" y="607949"/>
                  <a:pt x="607949" y="783209"/>
                  <a:pt x="391668" y="783209"/>
                </a:cubicBezTo>
                <a:cubicBezTo>
                  <a:pt x="175387" y="783209"/>
                  <a:pt x="0" y="607949"/>
                  <a:pt x="0" y="391668"/>
                </a:cubicBezTo>
                <a:close/>
              </a:path>
            </a:pathLst>
          </a:cu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10" name="Google Shape;310;p22"/>
          <p:cNvSpPr/>
          <p:nvPr/>
        </p:nvSpPr>
        <p:spPr>
          <a:xfrm>
            <a:off x="7910065" y="6029620"/>
            <a:ext cx="264319" cy="330422"/>
          </a:xfrm>
          <a:custGeom>
            <a:rect b="b" l="l" r="r" t="t"/>
            <a:pathLst>
              <a:path extrusionOk="0" h="440563" w="352425">
                <a:moveTo>
                  <a:pt x="0" y="0"/>
                </a:moveTo>
                <a:lnTo>
                  <a:pt x="352425" y="0"/>
                </a:lnTo>
                <a:lnTo>
                  <a:pt x="352425" y="440563"/>
                </a:lnTo>
                <a:lnTo>
                  <a:pt x="0" y="440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5" l="0" r="0" t="0"/>
            </a:stretch>
          </a:blipFill>
          <a:ln>
            <a:noFill/>
          </a:ln>
        </p:spPr>
      </p:sp>
      <p:sp>
        <p:nvSpPr>
          <p:cNvPr id="311" name="Google Shape;311;p22"/>
          <p:cNvSpPr txBox="1"/>
          <p:nvPr/>
        </p:nvSpPr>
        <p:spPr>
          <a:xfrm>
            <a:off x="7748588" y="6684321"/>
            <a:ext cx="2468766" cy="30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7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4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Targeted Marketing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7748588" y="7041061"/>
            <a:ext cx="9648825" cy="379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4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Focus on high-revenue segments and express users</a:t>
            </a:r>
            <a:endParaRPr/>
          </a:p>
        </p:txBody>
      </p:sp>
      <p:grpSp>
        <p:nvGrpSpPr>
          <p:cNvPr id="313" name="Google Shape;313;p22"/>
          <p:cNvGrpSpPr/>
          <p:nvPr/>
        </p:nvGrpSpPr>
        <p:grpSpPr>
          <a:xfrm>
            <a:off x="7538590" y="7817196"/>
            <a:ext cx="10068783" cy="1939861"/>
            <a:chOff x="0" y="0"/>
            <a:chExt cx="13425044" cy="2586482"/>
          </a:xfrm>
        </p:grpSpPr>
        <p:sp>
          <p:nvSpPr>
            <p:cNvPr id="314" name="Google Shape;314;p22"/>
            <p:cNvSpPr/>
            <p:nvPr/>
          </p:nvSpPr>
          <p:spPr>
            <a:xfrm>
              <a:off x="6350" y="6350"/>
              <a:ext cx="13412344" cy="2573782"/>
            </a:xfrm>
            <a:custGeom>
              <a:rect b="b" l="l" r="r" t="t"/>
              <a:pathLst>
                <a:path extrusionOk="0" h="2573782" w="13412344">
                  <a:moveTo>
                    <a:pt x="0" y="109728"/>
                  </a:moveTo>
                  <a:cubicBezTo>
                    <a:pt x="0" y="49149"/>
                    <a:pt x="49276" y="0"/>
                    <a:pt x="110109" y="0"/>
                  </a:cubicBezTo>
                  <a:lnTo>
                    <a:pt x="13302235" y="0"/>
                  </a:lnTo>
                  <a:cubicBezTo>
                    <a:pt x="13363068" y="0"/>
                    <a:pt x="13412344" y="49149"/>
                    <a:pt x="13412344" y="109728"/>
                  </a:cubicBezTo>
                  <a:lnTo>
                    <a:pt x="13412344" y="2464054"/>
                  </a:lnTo>
                  <a:cubicBezTo>
                    <a:pt x="13412344" y="2524633"/>
                    <a:pt x="13363068" y="2573782"/>
                    <a:pt x="13302235" y="2573782"/>
                  </a:cubicBezTo>
                  <a:lnTo>
                    <a:pt x="110109" y="2573782"/>
                  </a:lnTo>
                  <a:cubicBezTo>
                    <a:pt x="49276" y="2573782"/>
                    <a:pt x="0" y="2524633"/>
                    <a:pt x="0" y="2464054"/>
                  </a:cubicBezTo>
                  <a:close/>
                </a:path>
              </a:pathLst>
            </a:custGeom>
            <a:solidFill>
              <a:srgbClr val="F7E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0" y="0"/>
              <a:ext cx="13425044" cy="2586482"/>
            </a:xfrm>
            <a:custGeom>
              <a:rect b="b" l="l" r="r" t="t"/>
              <a:pathLst>
                <a:path extrusionOk="0" h="2586482" w="13425044">
                  <a:moveTo>
                    <a:pt x="0" y="116078"/>
                  </a:moveTo>
                  <a:cubicBezTo>
                    <a:pt x="0" y="51943"/>
                    <a:pt x="52197" y="0"/>
                    <a:pt x="116459" y="0"/>
                  </a:cubicBezTo>
                  <a:lnTo>
                    <a:pt x="13308585" y="0"/>
                  </a:lnTo>
                  <a:lnTo>
                    <a:pt x="13308585" y="6350"/>
                  </a:lnTo>
                  <a:lnTo>
                    <a:pt x="13308585" y="0"/>
                  </a:lnTo>
                  <a:cubicBezTo>
                    <a:pt x="13372847" y="0"/>
                    <a:pt x="13425044" y="51943"/>
                    <a:pt x="13425044" y="116078"/>
                  </a:cubicBezTo>
                  <a:lnTo>
                    <a:pt x="13418694" y="116078"/>
                  </a:lnTo>
                  <a:lnTo>
                    <a:pt x="13425044" y="116078"/>
                  </a:lnTo>
                  <a:lnTo>
                    <a:pt x="13425044" y="2470404"/>
                  </a:lnTo>
                  <a:lnTo>
                    <a:pt x="13418694" y="2470404"/>
                  </a:lnTo>
                  <a:lnTo>
                    <a:pt x="13425044" y="2470404"/>
                  </a:lnTo>
                  <a:cubicBezTo>
                    <a:pt x="13425044" y="2534539"/>
                    <a:pt x="13372847" y="2586482"/>
                    <a:pt x="13308585" y="2586482"/>
                  </a:cubicBezTo>
                  <a:lnTo>
                    <a:pt x="13308585" y="2580132"/>
                  </a:lnTo>
                  <a:lnTo>
                    <a:pt x="13308585" y="2586482"/>
                  </a:lnTo>
                  <a:lnTo>
                    <a:pt x="116459" y="2586482"/>
                  </a:lnTo>
                  <a:lnTo>
                    <a:pt x="116459" y="2580132"/>
                  </a:lnTo>
                  <a:lnTo>
                    <a:pt x="116459" y="2586482"/>
                  </a:lnTo>
                  <a:cubicBezTo>
                    <a:pt x="52197" y="2586482"/>
                    <a:pt x="0" y="2534539"/>
                    <a:pt x="0" y="2470404"/>
                  </a:cubicBezTo>
                  <a:lnTo>
                    <a:pt x="0" y="116078"/>
                  </a:lnTo>
                  <a:lnTo>
                    <a:pt x="6350" y="116078"/>
                  </a:lnTo>
                  <a:lnTo>
                    <a:pt x="0" y="116078"/>
                  </a:lnTo>
                  <a:moveTo>
                    <a:pt x="12700" y="116078"/>
                  </a:moveTo>
                  <a:lnTo>
                    <a:pt x="12700" y="2470404"/>
                  </a:lnTo>
                  <a:lnTo>
                    <a:pt x="6350" y="2470404"/>
                  </a:lnTo>
                  <a:lnTo>
                    <a:pt x="12700" y="2470404"/>
                  </a:lnTo>
                  <a:cubicBezTo>
                    <a:pt x="12700" y="2527427"/>
                    <a:pt x="59182" y="2573782"/>
                    <a:pt x="116459" y="2573782"/>
                  </a:cubicBezTo>
                  <a:lnTo>
                    <a:pt x="13308585" y="2573782"/>
                  </a:lnTo>
                  <a:cubicBezTo>
                    <a:pt x="13365862" y="2573782"/>
                    <a:pt x="13412344" y="2527554"/>
                    <a:pt x="13412344" y="2470404"/>
                  </a:cubicBezTo>
                  <a:lnTo>
                    <a:pt x="13412344" y="116078"/>
                  </a:lnTo>
                  <a:cubicBezTo>
                    <a:pt x="13412344" y="59055"/>
                    <a:pt x="13365862" y="12700"/>
                    <a:pt x="13308585" y="12700"/>
                  </a:cubicBezTo>
                  <a:lnTo>
                    <a:pt x="116459" y="12700"/>
                  </a:lnTo>
                  <a:lnTo>
                    <a:pt x="116459" y="6350"/>
                  </a:lnTo>
                  <a:lnTo>
                    <a:pt x="116459" y="12700"/>
                  </a:lnTo>
                  <a:cubicBezTo>
                    <a:pt x="59182" y="12700"/>
                    <a:pt x="12700" y="58928"/>
                    <a:pt x="12700" y="116078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6" name="Google Shape;316;p22"/>
          <p:cNvSpPr/>
          <p:nvPr/>
        </p:nvSpPr>
        <p:spPr>
          <a:xfrm>
            <a:off x="7748588" y="8027194"/>
            <a:ext cx="587407" cy="587407"/>
          </a:xfrm>
          <a:custGeom>
            <a:rect b="b" l="l" r="r" t="t"/>
            <a:pathLst>
              <a:path extrusionOk="0" h="783209" w="783209">
                <a:moveTo>
                  <a:pt x="0" y="391668"/>
                </a:moveTo>
                <a:cubicBezTo>
                  <a:pt x="0" y="175387"/>
                  <a:pt x="175387" y="0"/>
                  <a:pt x="391668" y="0"/>
                </a:cubicBezTo>
                <a:cubicBezTo>
                  <a:pt x="607949" y="0"/>
                  <a:pt x="783209" y="175387"/>
                  <a:pt x="783209" y="391668"/>
                </a:cubicBezTo>
                <a:cubicBezTo>
                  <a:pt x="783209" y="607949"/>
                  <a:pt x="607949" y="783209"/>
                  <a:pt x="391668" y="783209"/>
                </a:cubicBezTo>
                <a:cubicBezTo>
                  <a:pt x="175387" y="783209"/>
                  <a:pt x="0" y="607949"/>
                  <a:pt x="0" y="391668"/>
                </a:cubicBezTo>
                <a:close/>
              </a:path>
            </a:pathLst>
          </a:cu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17" name="Google Shape;317;p22"/>
          <p:cNvSpPr/>
          <p:nvPr/>
        </p:nvSpPr>
        <p:spPr>
          <a:xfrm>
            <a:off x="7910065" y="8155629"/>
            <a:ext cx="264319" cy="330422"/>
          </a:xfrm>
          <a:custGeom>
            <a:rect b="b" l="l" r="r" t="t"/>
            <a:pathLst>
              <a:path extrusionOk="0" h="440563" w="352425">
                <a:moveTo>
                  <a:pt x="0" y="0"/>
                </a:moveTo>
                <a:lnTo>
                  <a:pt x="352425" y="0"/>
                </a:lnTo>
                <a:lnTo>
                  <a:pt x="352425" y="440563"/>
                </a:lnTo>
                <a:lnTo>
                  <a:pt x="0" y="440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5" l="0" r="0" t="0"/>
            </a:stretch>
          </a:blipFill>
          <a:ln>
            <a:noFill/>
          </a:ln>
        </p:spPr>
      </p:sp>
      <p:sp>
        <p:nvSpPr>
          <p:cNvPr id="318" name="Google Shape;318;p22"/>
          <p:cNvSpPr txBox="1"/>
          <p:nvPr/>
        </p:nvSpPr>
        <p:spPr>
          <a:xfrm>
            <a:off x="7748588" y="8810330"/>
            <a:ext cx="2483491" cy="30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7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4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Product Positioning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7748588" y="9167070"/>
            <a:ext cx="9648825" cy="379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4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Highlight top-rated products in campaigns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